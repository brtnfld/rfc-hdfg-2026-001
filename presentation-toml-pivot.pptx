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167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Switching to TOML</a:t>
            </a:r>
          </a:p>
          <a:p>
            <a:pPr algn="ctr"/>
            <a:r>
              <a:rPr sz="2200">
                <a:solidFill>
                  <a:srgbClr val="BFD7FF"/>
                </a:solidFill>
              </a:rPr>
              <a:t>Parameter String Format  ·  RFC-HDFG-2026-001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0"/>
            <a:ext cx="1109167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BFD7FF"/>
                </a:solidFill>
              </a:rPr>
              <a:t>HDF Group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201168"/>
          <a:lstStyle/>
          <a:p>
            <a:pPr algn="l"/>
            <a:r>
              <a:rPr b="1" sz="2800">
                <a:solidFill>
                  <a:srgbClr val="FFFFFF"/>
                </a:solidFill>
              </a:rPr>
              <a:t>Why We Had a Custom Parser — and Why We Dropped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54864"/>
          <a:lstStyle/>
          <a:p>
            <a:pPr algn="ctr"/>
            <a:r>
              <a:rPr sz="1100">
                <a:solidFill>
                  <a:srgbClr val="FFFFFF"/>
                </a:solidFill>
              </a:rPr>
              <a:t>RFC-HDFG-2026-001  |  Switching to TOML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11457432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700" b="0">
                <a:solidFill>
                  <a:srgbClr val="000000"/>
                </a:solidFill>
              </a:rPr>
              <a:t>The original design used a hand-written comma-separated key=value parser.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700" b="1">
                <a:solidFill>
                  <a:srgbClr val="1F457C"/>
                </a:solidFill>
              </a:rPr>
              <a:t>What the library had to own: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600">
                <a:solidFill>
                  <a:srgbClr val="000000"/>
                </a:solidFill>
              </a:rPr>
              <a:t>  •  A bespoke grammar (EBNF written and maintained by us)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600">
                <a:solidFill>
                  <a:srgbClr val="000000"/>
                </a:solidFill>
              </a:rPr>
              <a:t>  •  A stateful parser (~80 lines of C)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600">
                <a:solidFill>
                  <a:srgbClr val="000000"/>
                </a:solidFill>
              </a:rPr>
              <a:t>  •  Quoting semantics decisions (what escapes are valid?)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600">
                <a:solidFill>
                  <a:srgbClr val="000000"/>
                </a:solidFill>
              </a:rPr>
              <a:t>  •  All edge cases: bare keys as boolean flags, key= rejection, etc.</a:t>
            </a:r>
          </a:p>
          <a:p>
            <a:pPr>
              <a:spcBef>
                <a:spcPts val="1200"/>
              </a:spcBef>
              <a:spcAft>
                <a:spcPts val="200"/>
              </a:spcAft>
            </a:pPr>
            <a:r>
              <a:rPr sz="1700" b="1">
                <a:solidFill>
                  <a:srgbClr val="C00000"/>
                </a:solidFill>
              </a:rPr>
              <a:t>The problem: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>Every design question — can a key contain a hyphen? what does key= mean? how do you embed a quote? — had to be answered from scratch and documented by us, forever.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201168"/>
          <a:lstStyle/>
          <a:p>
            <a:pPr algn="l"/>
            <a:r>
              <a:rPr b="1" sz="2800">
                <a:solidFill>
                  <a:srgbClr val="FFFFFF"/>
                </a:solidFill>
              </a:rPr>
              <a:t>The Old Design's Specific Gaps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54864"/>
          <a:lstStyle/>
          <a:p>
            <a:pPr algn="ctr"/>
            <a:r>
              <a:rPr sz="1100">
                <a:solidFill>
                  <a:srgbClr val="FFFFFF"/>
                </a:solidFill>
              </a:rPr>
              <a:t>RFC-HDFG-2026-001  |  Switching to TOML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57432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8716"/>
                <a:gridCol w="5728716"/>
              </a:tblGrid>
              <a:tr h="36576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Problem</a:t>
                      </a:r>
                    </a:p>
                  </a:txBody>
                  <a:tcPr>
                    <a:solidFill>
                      <a:srgbClr val="1F45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Old grammar</a:t>
                      </a:r>
                    </a:p>
                  </a:txBody>
                  <a:tcPr>
                    <a:solidFill>
                      <a:srgbClr val="1F457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Typed values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Everything a string; filter had to re-parse "3.5" → double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Booleans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Bare key (fast_mode) as implicit true — non-standard, surprising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Nested config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Not supported; VOL/VFD parameters had no clean path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Specification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Our spec, our burden, our compatibility surface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Parser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Hand-written; not vendored from anywhere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Accessor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</a:rPr>
                        <a:t>Single H5Zconfig_get_param returning char* — type dispatch left to filter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349240"/>
            <a:ext cx="1145743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1F457C"/>
                </a:solidFill>
              </a:rPr>
              <a:t>Type dispatch was entirely the filter's responsibility.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201168"/>
          <a:lstStyle/>
          <a:p>
            <a:pPr algn="l"/>
            <a:r>
              <a:rPr b="1" sz="2800">
                <a:solidFill>
                  <a:srgbClr val="FFFFFF"/>
                </a:solidFill>
              </a:rPr>
              <a:t>TOML: An Established Inline Table Grammar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54864"/>
          <a:lstStyle/>
          <a:p>
            <a:pPr algn="ctr"/>
            <a:r>
              <a:rPr sz="1100">
                <a:solidFill>
                  <a:srgbClr val="FFFFFF"/>
                </a:solidFill>
              </a:rPr>
              <a:t>RFC-HDFG-2026-001  |  Switching to TOML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11457432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700" b="0">
                <a:solidFill>
                  <a:srgbClr val="000000"/>
                </a:solidFill>
              </a:rPr>
              <a:t>TOML v1.0.0 is a stable, widely-used configuration language.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0">
                <a:solidFill>
                  <a:srgbClr val="000000"/>
                </a:solidFill>
              </a:rPr>
              <a:t>The inline table subset — { key = value, key = value } — is exactly the shape we need.</a:t>
            </a:r>
          </a:p>
          <a:p>
            <a:pPr>
              <a:spcBef>
                <a:spcPts val="1200"/>
              </a:spcBef>
              <a:spcAft>
                <a:spcPts val="200"/>
              </a:spcAft>
            </a:pPr>
            <a:r>
              <a:rPr sz="1700" b="1">
                <a:solidFill>
                  <a:srgbClr val="1F457C"/>
                </a:solidFill>
              </a:rPr>
              <a:t>What we get for free: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600">
                <a:solidFill>
                  <a:srgbClr val="000000"/>
                </a:solidFill>
              </a:rPr>
              <a:t>  •  A published, versioned specification we reference rather than write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600">
                <a:solidFill>
                  <a:srgbClr val="000000"/>
                </a:solidFill>
              </a:rPr>
              <a:t>  •  Native typed values: integer, float, boolean, string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600">
                <a:solidFill>
                  <a:srgbClr val="000000"/>
                </a:solidFill>
              </a:rPr>
              <a:t>  •  Defined escaping rules — no new decisions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600">
                <a:solidFill>
                  <a:srgbClr val="000000"/>
                </a:solidFill>
              </a:rPr>
              <a:t>  •  Nested tables for VOL/VFD config and wrapping filters (e.g., Blosc sub-compressor)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600">
                <a:solidFill>
                  <a:srgbClr val="000000"/>
                </a:solidFill>
              </a:rPr>
              <a:t>  •  An MIT-licensed C17 implementation: tomlc17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600" b="0">
                <a:solidFill>
                  <a:srgbClr val="1F457C"/>
                </a:solidFill>
              </a:rPr>
              <a:t>We vendor a stripped subset of tomlc17 under src/H5Ztoml.{c,h}.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201168"/>
          <a:lstStyle/>
          <a:p>
            <a:pPr algn="l"/>
            <a:r>
              <a:rPr b="1" sz="2800">
                <a:solidFill>
                  <a:srgbClr val="FFFFFF"/>
                </a:solidFill>
              </a:rPr>
              <a:t>What the Subset Looks Like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54864"/>
          <a:lstStyle/>
          <a:p>
            <a:pPr algn="ctr"/>
            <a:r>
              <a:rPr sz="1100">
                <a:solidFill>
                  <a:srgbClr val="FFFFFF"/>
                </a:solidFill>
              </a:rPr>
              <a:t>RFC-HDFG-2026-001  |  Switching to TOML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70432"/>
            <a:ext cx="11457432" cy="2267712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16152"/>
            <a:ext cx="11274552" cy="2221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</a:pPr>
            <a:r>
              <a:rPr sz="1250">
                <a:solidFill>
                  <a:srgbClr val="1A1A6E"/>
                </a:solidFill>
                <a:latin typeface="Courier New"/>
              </a:rPr>
              <a:t>level = 6                                                # integer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1A1A6E"/>
                </a:solidFill>
                <a:latin typeface="Courier New"/>
              </a:rPr>
              <a:t>mode = "rate", rate = 3.5                               # string + float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1A1A6E"/>
                </a:solidFill>
                <a:latin typeface="Courier New"/>
              </a:rPr>
              <a:t>fast_mode = true, level = 6                             # boolean + integer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1A1A6E"/>
                </a:solidFill>
                <a:latin typeface="Courier New"/>
              </a:rPr>
              <a:t>path = "/data/run_1,v2/dict.bin"                        # comma inside quoted string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1A1A6E"/>
                </a:solidFill>
                <a:latin typeface="Courier New"/>
              </a:rPr>
              <a:t>pixels_per_block = 16, coding = "nn"                    # SZIP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1A1A6E"/>
                </a:solidFill>
                <a:latin typeface="Courier New"/>
              </a:rPr>
              <a:t>compressor.name = "zlib", compressor.level = 6, shuffle = 1   # Blosc2 (dotted keys)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1A1A6E"/>
                </a:solidFill>
                <a:latin typeface="Courier New"/>
              </a:rPr>
              <a:t>compressor = {name = "zlib", level = 6}, shuffle = 1   # Blosc2 (inline table; equivalent)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1A1A6E"/>
                </a:solidFill>
                <a:latin typeface="Courier New"/>
              </a:rPr>
              <a:t>stripe = {size = 1048576, count = 4}                    # nested table (VOL/VFD)</a:t>
            </a:r>
          </a:p>
          <a:p>
            <a:pPr>
              <a:spcBef>
                <a:spcPts val="100"/>
              </a:spcBef>
            </a:pPr>
            <a:r>
              <a:rPr sz="1250">
                <a:solidFill>
                  <a:srgbClr val="1A1A6E"/>
                </a:solidFill>
                <a:latin typeface="Courier New"/>
              </a:rPr>
              <a:t>NULL                                                     # no parameters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547872"/>
            <a:ext cx="1145743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>
                <a:solidFill>
                  <a:srgbClr val="1F457C"/>
                </a:solidFill>
              </a:rPr>
              <a:t>HDF5-specific constraints on top of TOML: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>
                <a:solidFill>
                  <a:srgbClr val="000000"/>
                </a:solidFill>
              </a:rPr>
              <a:t>  •  filter_title is a reserved key (injected by the library)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>
                <a:solidFill>
                  <a:srgbClr val="000000"/>
                </a:solidFill>
              </a:rPr>
              <a:t>  •  inf, -inf, nan are valid TOML but rejected by HDF5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>
                <a:solidFill>
                  <a:srgbClr val="000000"/>
                </a:solidFill>
              </a:rPr>
              <a:t>  •  Arrays, datetimes, multi-line strings are not in the supported subset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400">
                <a:solidFill>
                  <a:srgbClr val="000000"/>
                </a:solidFill>
              </a:rPr>
              <a:t>  •  Max 4096 bytes, max 64 top-level keys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201168"/>
          <a:lstStyle/>
          <a:p>
            <a:pPr algn="l"/>
            <a:r>
              <a:rPr b="1" sz="2800">
                <a:solidFill>
                  <a:srgbClr val="FFFFFF"/>
                </a:solidFill>
              </a:rPr>
              <a:t>Why This Matters for Python (and Other High-Level Languages)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54864"/>
          <a:lstStyle/>
          <a:p>
            <a:pPr algn="ctr"/>
            <a:r>
              <a:rPr sz="1100">
                <a:solidFill>
                  <a:srgbClr val="FFFFFF"/>
                </a:solidFill>
              </a:rPr>
              <a:t>RFC-HDFG-2026-001  |  Switching to TOML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70432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57C"/>
                </a:solidFill>
              </a:rPr>
              <a:t>ZFP rate mode — before (bit-casting a double into unsigned ints):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64208"/>
            <a:ext cx="11457432" cy="1033272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09928"/>
            <a:ext cx="11274552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</a:pPr>
            <a:r>
              <a:rPr sz="1300">
                <a:solidFill>
                  <a:srgbClr val="1A1A6E"/>
                </a:solidFill>
                <a:latin typeface="Courier New"/>
              </a:rPr>
              <a:t>import struct, h5py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1A1A6E"/>
                </a:solidFill>
                <a:latin typeface="Courier New"/>
              </a:rPr>
              <a:t>rate = 3.5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1A1A6E"/>
                </a:solidFill>
                <a:latin typeface="Courier New"/>
              </a:rPr>
              <a:t>cd = (1, 0) + struct.unpack("2I", struct.pack("d", rate))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1A1A6E"/>
                </a:solidFill>
                <a:latin typeface="Courier New"/>
              </a:rPr>
              <a:t>ds = f.create_dataset("x", data=data, compression=32013, compression_opts=cd)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07208"/>
            <a:ext cx="114574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378630"/>
                </a:solidFill>
              </a:rPr>
              <a:t>After — with the string API: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154680"/>
            <a:ext cx="11457432" cy="539496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11274552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</a:pPr>
            <a:r>
              <a:rPr sz="1300">
                <a:solidFill>
                  <a:srgbClr val="1A1A6E"/>
                </a:solidFill>
                <a:latin typeface="Courier New"/>
              </a:rPr>
              <a:t>ds = f.create_dataset("x", data=data, compression=32013,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1A1A6E"/>
                </a:solidFill>
                <a:latin typeface="Courier New"/>
              </a:rPr>
              <a:t>                      filter_params="mode='rate', rate=3.5")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895344"/>
            <a:ext cx="5637276" cy="2551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457C"/>
                </a:solidFill>
              </a:rPr>
              <a:t>For users (h5py, etc.)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>
                <a:solidFill>
                  <a:srgbClr val="000000"/>
                </a:solidFill>
              </a:rPr>
              <a:t>  •  No struct.pack, no bit manipulation, no endian sensitivity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>
                <a:solidFill>
                  <a:srgbClr val="000000"/>
                </a:solidFill>
              </a:rPr>
              <a:t>  •  Parameters readable in config files, env vars, CLI args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>
                <a:solidFill>
                  <a:srgbClr val="000000"/>
                </a:solidFill>
              </a:rPr>
              <a:t>  •  TOML is already familiar — Python users know it from pyproject.toml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85916" y="3895344"/>
            <a:ext cx="5637276" cy="2551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457C"/>
                </a:solidFill>
              </a:rPr>
              <a:t>For binding authors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>
                <a:solidFill>
                  <a:srgbClr val="000000"/>
                </a:solidFill>
              </a:rPr>
              <a:t>  •  One string arg replaces compression_opts tuple for v3 filters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>
                <a:solidFill>
                  <a:srgbClr val="000000"/>
                </a:solidFill>
              </a:rPr>
              <a:t>  •  No per-filter codec knowledge needed in the binding layer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300">
                <a:solidFill>
                  <a:srgbClr val="000000"/>
                </a:solidFill>
              </a:rPr>
              <a:t>  •  Library validates types before set_config runs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201168"/>
          <a:lstStyle/>
          <a:p>
            <a:pPr algn="l"/>
            <a:r>
              <a:rPr b="1" sz="2800">
                <a:solidFill>
                  <a:srgbClr val="FFFFFF"/>
                </a:solidFill>
              </a:rPr>
              <a:t>What Changed for Plugin Authors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54864"/>
          <a:lstStyle/>
          <a:p>
            <a:pPr algn="ctr"/>
            <a:r>
              <a:rPr sz="1100">
                <a:solidFill>
                  <a:srgbClr val="FFFFFF"/>
                </a:solidFill>
              </a:rPr>
              <a:t>RFC-HDFG-2026-001  |  Switching to TOML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5743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8716"/>
                <a:gridCol w="5728716"/>
              </a:tblGrid>
              <a:tr h="36576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Old</a:t>
                      </a:r>
                    </a:p>
                  </a:txBody>
                  <a:tcPr>
                    <a:solidFill>
                      <a:srgbClr val="1F45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New</a:t>
                      </a:r>
                    </a:p>
                  </a:txBody>
                  <a:tcPr>
                    <a:solidFill>
                      <a:srgbClr val="1F457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H5Zconfig_get_param(...) → char*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H5Zconfig_get_int(params, "level", &amp;val) → int64_t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Manual strtod("3.5") in callback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H5Zconfig_get_double(params, "rate", &amp;val) → double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Check buf_size==0 for bare-key boolean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H5Zconfig_get_bool(params, "fast_mode", &amp;val) → hbool_t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No dotted-key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</a:rPr>
                        <a:t>H5Zconfig_get_str(params, "compressor.name", ...) for nested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3749039"/>
            <a:ext cx="1145743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1F457C"/>
                </a:solidFill>
              </a:rPr>
              <a:t>Booleans: fast_mode (bare key, old)  →  fast_mode = true  (TOML).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000000"/>
                </a:solidFill>
              </a:rPr>
              <a:t>Bare keys without a value are now rejected with H5E_BADVALUE.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500" b="1">
                <a:solidFill>
                  <a:srgbClr val="C00000"/>
                </a:solidFill>
              </a:rPr>
              <a:t>Type mismatches caught at the parser level — before set_config is invoked.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</a:rPr>
              <a:t>Example: rate = "oops" passed to H5Zconfig_get_double returns H5E_BADVALUE immediately.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201168"/>
          <a:lstStyle/>
          <a:p>
            <a:pPr algn="l"/>
            <a:r>
              <a:rPr b="1" sz="2800">
                <a:solidFill>
                  <a:srgbClr val="FFFFFF"/>
                </a:solidFill>
              </a:rPr>
              <a:t>What Did Not Change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54864"/>
          <a:lstStyle/>
          <a:p>
            <a:pPr algn="ctr"/>
            <a:r>
              <a:rPr sz="1100">
                <a:solidFill>
                  <a:srgbClr val="FFFFFF"/>
                </a:solidFill>
              </a:rPr>
              <a:t>RFC-HDFG-2026-001  |  Switching to TOML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11457432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700">
                <a:solidFill>
                  <a:srgbClr val="000000"/>
                </a:solidFill>
              </a:rPr>
              <a:t>  •  H5Pappend_filter API signature — unchanged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700">
                <a:solidFill>
                  <a:srgbClr val="000000"/>
                </a:solidFill>
              </a:rPr>
              <a:t>  •  cd_values storage — TOML is an input format only; cd_values are what gets stored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700">
                <a:solidFill>
                  <a:srgbClr val="000000"/>
                </a:solidFill>
              </a:rPr>
              <a:t>  •  get_config output format — still key = value strings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700">
                <a:solidFill>
                  <a:srgbClr val="000000"/>
                </a:solidFill>
              </a:rPr>
              <a:t>  •  All existing H5Pset_filter call sites — compile and run without modification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700">
                <a:solidFill>
                  <a:srgbClr val="000000"/>
                </a:solidFill>
              </a:rPr>
              <a:t>  •  On-disk format — no file format bump; files are byte-identical to H5Pset_filter output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700">
                <a:solidFill>
                  <a:srgbClr val="000000"/>
                </a:solidFill>
              </a:rPr>
              <a:t>  •  H5Z_class3_t struct layout — unchanged</a:t>
            </a:r>
          </a:p>
          <a:p>
            <a:pPr>
              <a:spcBef>
                <a:spcPts val="1800"/>
              </a:spcBef>
              <a:spcAft>
                <a:spcPts val="200"/>
              </a:spcAft>
            </a:pPr>
            <a:r>
              <a:rPr sz="1700" b="1">
                <a:solidFill>
                  <a:srgbClr val="1F457C"/>
                </a:solidFill>
              </a:rPr>
              <a:t>The TOML parser runs at H5Pappend_filter call time and is invisible after that point.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0">
                <a:solidFill>
                  <a:srgbClr val="000000"/>
                </a:solidFill>
              </a:rPr>
              <a:t>cd_values are what get stored, passed to filters, and written to disk — exactly as before.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201168"/>
          <a:lstStyle/>
          <a:p>
            <a:pPr algn="l"/>
            <a:r>
              <a:rPr b="1" sz="2800">
                <a:solidFill>
                  <a:srgbClr val="FFFFFF"/>
                </a:solidFill>
              </a:rPr>
              <a:t>The One Trade-off: A Dependency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54864"/>
          <a:lstStyle/>
          <a:p>
            <a:pPr algn="ctr"/>
            <a:r>
              <a:rPr sz="1100">
                <a:solidFill>
                  <a:srgbClr val="FFFFFF"/>
                </a:solidFill>
              </a:rPr>
              <a:t>RFC-HDFG-2026-001  |  Switching to TOML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11457432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800" b="1">
                <a:solidFill>
                  <a:srgbClr val="1F457C"/>
                </a:solidFill>
              </a:rPr>
              <a:t>We now vendor tomlc17: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700">
                <a:solidFill>
                  <a:srgbClr val="000000"/>
                </a:solidFill>
              </a:rPr>
              <a:t>  •  MIT-licensed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700">
                <a:solidFill>
                  <a:srgbClr val="000000"/>
                </a:solidFill>
              </a:rPr>
              <a:t>  •  ~2 000 lines of C17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700">
                <a:solidFill>
                  <a:srgbClr val="000000"/>
                </a:solidFill>
              </a:rPr>
              <a:t>  •  Stripped to the inline table + primitive value subset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700">
                <a:solidFill>
                  <a:srgbClr val="000000"/>
                </a:solidFill>
              </a:rPr>
              <a:t>  •  Updated as part of the normal HDF5 dependency refresh</a:t>
            </a:r>
          </a:p>
          <a:p>
            <a:pPr>
              <a:spcBef>
                <a:spcPts val="1800"/>
              </a:spcBef>
              <a:spcAft>
                <a:spcPts val="200"/>
              </a:spcAft>
            </a:pPr>
            <a:r>
              <a:rPr sz="1800" b="1">
                <a:solidFill>
                  <a:srgbClr val="C00000"/>
                </a:solidFill>
              </a:rPr>
              <a:t>The alternative: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0">
                <a:solidFill>
                  <a:srgbClr val="000000"/>
                </a:solidFill>
              </a:rPr>
              <a:t>Owning a custom grammar, parser, and specification indefinitely.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700" b="1">
                <a:solidFill>
                  <a:srgbClr val="378630"/>
                </a:solidFill>
              </a:rPr>
              <a:t>A published, maintained spec is the better long-term position.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4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201168"/>
          <a:lstStyle/>
          <a:p>
            <a:pPr algn="l"/>
            <a:r>
              <a:rPr b="1" sz="2800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54864"/>
          <a:lstStyle/>
          <a:p>
            <a:pPr algn="ctr"/>
            <a:r>
              <a:rPr sz="1100">
                <a:solidFill>
                  <a:srgbClr val="FFFFFF"/>
                </a:solidFill>
              </a:rPr>
              <a:t>RFC-HDFG-2026-001  |  Switching to TOML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70432"/>
          <a:ext cx="1145743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9144"/>
                <a:gridCol w="3819144"/>
                <a:gridCol w="3819144"/>
              </a:tblGrid>
              <a:tr h="36576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1F45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Custom grammar</a:t>
                      </a:r>
                    </a:p>
                  </a:txBody>
                  <a:tcPr>
                    <a:solidFill>
                      <a:srgbClr val="1F45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TOML inline table</a:t>
                      </a:r>
                    </a:p>
                  </a:txBody>
                  <a:tcPr>
                    <a:solidFill>
                      <a:srgbClr val="1F457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Spec ownership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Ours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TOML v1.0.0 (external, stable)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Typed values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No (string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Yes — int, float, bool, 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Booleans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Bare key hack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key = true / key = false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Nested config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Not supported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Inline table + dotted keys (Blosc, VOL/VFD)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Parser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Hand-written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tomlc17 (vendored subset, MIT)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Accessor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get_param → char*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_get_int / _get_double / _get_bool / _get_str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cd_values/on-disk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Unchanged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Unchanged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Existing call sites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Unchanged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Unchanged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Python usability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struct.pack gymnastics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Plain string argument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172200"/>
            <a:ext cx="114574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F457C"/>
                </a:solidFill>
              </a:rPr>
              <a:t>The switch buys typed values, Python usability, and a stable external spec.  It costs one vendored dependency.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